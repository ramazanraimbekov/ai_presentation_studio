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700000">
            <a:off x="10881360" y="502920"/>
            <a:ext cx="640080" cy="640080"/>
          </a:xfrm>
          <a:prstGeom prst="roundRect">
            <a:avLst/>
          </a:prstGeom>
          <a:solidFill>
            <a:srgbClr val="2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292840" y="6080760"/>
            <a:ext cx="320040" cy="32004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F80FF"/>
                </a:solidFill>
                <a:latin typeface="Aptos"/>
              </a:defRPr>
            </a:pPr>
            <a:r>
              <a:t>GENERATED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28800"/>
            <a:ext cx="97840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7FAFF"/>
                </a:solidFill>
                <a:latin typeface="Aptos"/>
              </a:defRPr>
            </a:pPr>
            <a:r>
              <a:t>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657600"/>
            <a:ext cx="8046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9EB3C9"/>
                </a:solidFill>
                <a:latin typeface="Aptos"/>
              </a:defRPr>
            </a:pPr>
            <a:r>
              <a:t>Building robust, scalable, and maintainable digital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5074920"/>
            <a:ext cx="4023360" cy="73152"/>
          </a:xfrm>
          <a:prstGeom prst="rect">
            <a:avLst/>
          </a:prstGeom>
          <a:solidFill>
            <a:srgbClr val="2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35838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9EB3C9"/>
                </a:solidFill>
                <a:latin typeface="Aptos"/>
              </a:defRPr>
            </a:pPr>
            <a:r>
              <a:t>10 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40080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EB3C9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700000">
            <a:off x="10881360" y="502920"/>
            <a:ext cx="640080" cy="640080"/>
          </a:xfrm>
          <a:prstGeom prst="roundRect">
            <a:avLst/>
          </a:prstGeom>
          <a:solidFill>
            <a:srgbClr val="2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292840" y="6080760"/>
            <a:ext cx="320040" cy="32004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438912"/>
            <a:ext cx="1417320" cy="384048"/>
          </a:xfrm>
          <a:prstGeom prst="roundRect">
            <a:avLst/>
          </a:prstGeom>
          <a:solidFill>
            <a:srgbClr val="2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493776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ptos"/>
              </a:defRPr>
            </a:pPr>
            <a:r>
              <a:t>AI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9EB3C9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7FAFF"/>
                </a:solidFill>
                <a:latin typeface="Aptos"/>
              </a:defRPr>
            </a:pPr>
            <a:r>
              <a:t>What is Software Engineering?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10607040" cy="352044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7FAFF"/>
                </a:solidFill>
                <a:latin typeface="Aptos"/>
              </a:defRPr>
            </a:pPr>
            <a:r>
              <a:t>•  The systematic application of engineering approaches to the development of software.</a:t>
            </a:r>
          </a:p>
          <a:p>
            <a:pPr>
              <a:spcAft>
                <a:spcPts val="1400"/>
              </a:spcAft>
              <a:defRPr sz="2100">
                <a:solidFill>
                  <a:srgbClr val="F7FAFF"/>
                </a:solidFill>
                <a:latin typeface="Aptos"/>
              </a:defRPr>
            </a:pPr>
            <a:r>
              <a:t>•  Aims to produce reliable, efficient, and cost-effective software solutions.</a:t>
            </a:r>
          </a:p>
          <a:p>
            <a:pPr>
              <a:spcAft>
                <a:spcPts val="1400"/>
              </a:spcAft>
              <a:defRPr sz="2100">
                <a:solidFill>
                  <a:srgbClr val="F7FAFF"/>
                </a:solidFill>
                <a:latin typeface="Aptos"/>
              </a:defRPr>
            </a:pPr>
            <a:r>
              <a:t>•  Balances technical constraints with business and user requirements.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40080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EB3C9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700000">
            <a:off x="10881360" y="502920"/>
            <a:ext cx="640080" cy="640080"/>
          </a:xfrm>
          <a:prstGeom prst="roundRect">
            <a:avLst/>
          </a:prstGeom>
          <a:solidFill>
            <a:srgbClr val="2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292840" y="6080760"/>
            <a:ext cx="320040" cy="32004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438912"/>
            <a:ext cx="1417320" cy="384048"/>
          </a:xfrm>
          <a:prstGeom prst="roundRect">
            <a:avLst/>
          </a:prstGeom>
          <a:solidFill>
            <a:srgbClr val="2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493776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ptos"/>
              </a:defRPr>
            </a:pPr>
            <a:r>
              <a:t>AI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9EB3C9"/>
                </a:solidFill>
                <a:latin typeface="Aptos"/>
              </a:defRPr>
            </a:pPr>
            <a:r>
              <a:t>KEY IDEAS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7FAFF"/>
                </a:solidFill>
                <a:latin typeface="Aptos"/>
              </a:defRPr>
            </a:pPr>
            <a:r>
              <a:t>Core Pillars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23160"/>
            <a:ext cx="3429000" cy="297180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F80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01568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7FAFF"/>
                </a:solidFill>
                <a:latin typeface="Aptos"/>
              </a:defRPr>
            </a:pPr>
            <a:r>
              <a:t>Maintainability: Code must be readable and easily modifiable by future developers.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2423160"/>
            <a:ext cx="3429000" cy="297180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69748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F80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3401568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7FAFF"/>
                </a:solidFill>
                <a:latin typeface="Aptos"/>
              </a:defRPr>
            </a:pPr>
            <a:r>
              <a:t>Scalability: Systems should handle growing amounts of work gracefully.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2423160"/>
            <a:ext cx="3429000" cy="297180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8" y="269748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F80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3401568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7FAFF"/>
                </a:solidFill>
                <a:latin typeface="Aptos"/>
              </a:defRPr>
            </a:pPr>
            <a:r>
              <a:t>Reliability: Software must perform consistently without unexpected failures.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37392" y="640080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EB3C9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700000">
            <a:off x="10881360" y="502920"/>
            <a:ext cx="640080" cy="640080"/>
          </a:xfrm>
          <a:prstGeom prst="roundRect">
            <a:avLst/>
          </a:prstGeom>
          <a:solidFill>
            <a:srgbClr val="2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292840" y="6080760"/>
            <a:ext cx="320040" cy="32004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438912"/>
            <a:ext cx="1417320" cy="384048"/>
          </a:xfrm>
          <a:prstGeom prst="roundRect">
            <a:avLst/>
          </a:prstGeom>
          <a:solidFill>
            <a:srgbClr val="2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493776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ptos"/>
              </a:defRPr>
            </a:pPr>
            <a:r>
              <a:t>AI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9EB3C9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7FAFF"/>
                </a:solidFill>
                <a:latin typeface="Aptos"/>
              </a:defRPr>
            </a:pPr>
            <a:r>
              <a:t>Methodology Shift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23160"/>
            <a:ext cx="5166360" cy="324612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F80FF"/>
                </a:solidFill>
                <a:latin typeface="Aptos"/>
              </a:defRPr>
            </a:pPr>
            <a:r>
              <a:t>Waterfall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7FAFF"/>
                </a:solidFill>
                <a:latin typeface="Aptos"/>
              </a:defRPr>
            </a:pPr>
            <a:r>
              <a:t>Linear and sequential approach with distinct phases like requirements, design, implementation, and testing.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423160"/>
            <a:ext cx="5166360" cy="324612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F80FF"/>
                </a:solidFill>
                <a:latin typeface="Aptos"/>
              </a:defRPr>
            </a:pPr>
            <a:r>
              <a:t>Agile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38328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7FAFF"/>
                </a:solidFill>
                <a:latin typeface="Aptos"/>
              </a:defRPr>
            </a:pPr>
            <a:r>
              <a:t>Iterative approach focusing on continuous collaboration, customer feedback, and small rapid releases.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37392" y="640080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EB3C9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700000">
            <a:off x="10881360" y="502920"/>
            <a:ext cx="640080" cy="640080"/>
          </a:xfrm>
          <a:prstGeom prst="roundRect">
            <a:avLst/>
          </a:prstGeom>
          <a:solidFill>
            <a:srgbClr val="2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292840" y="6080760"/>
            <a:ext cx="320040" cy="32004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438912"/>
            <a:ext cx="1417320" cy="384048"/>
          </a:xfrm>
          <a:prstGeom prst="roundRect">
            <a:avLst/>
          </a:prstGeom>
          <a:solidFill>
            <a:srgbClr val="2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493776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ptos"/>
              </a:defRPr>
            </a:pPr>
            <a:r>
              <a:t>AI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9EB3C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7FAFF"/>
                </a:solidFill>
                <a:latin typeface="Aptos"/>
              </a:defRPr>
            </a:pPr>
            <a:r>
              <a:t>The Software Development Life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88920"/>
            <a:ext cx="1911095" cy="160020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017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F80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502152"/>
            <a:ext cx="15453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AFF"/>
                </a:solidFill>
                <a:latin typeface="Aptos"/>
              </a:defRPr>
            </a:pPr>
            <a:r>
              <a:t>Requirement Analysis: Gathering and defining system needs.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" y="2788920"/>
            <a:ext cx="1911095" cy="160020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3017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F80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3502152"/>
            <a:ext cx="15453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AFF"/>
                </a:solidFill>
                <a:latin typeface="Aptos"/>
              </a:defRPr>
            </a:pPr>
            <a:r>
              <a:t>System Design: Architecting the software structure and databases.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2624" y="2788920"/>
            <a:ext cx="1911095" cy="160020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1224" y="3017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F80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502152"/>
            <a:ext cx="15453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AFF"/>
                </a:solidFill>
                <a:latin typeface="Aptos"/>
              </a:defRPr>
            </a:pPr>
            <a:r>
              <a:t>Implementation: Writing code and building features.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788920"/>
            <a:ext cx="1911095" cy="160020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3017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F80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502152"/>
            <a:ext cx="15453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AFF"/>
                </a:solidFill>
                <a:latin typeface="Aptos"/>
              </a:defRPr>
            </a:pPr>
            <a:r>
              <a:t>Testing: Identifying and resolving bugs and performance bottlenecks.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72015" y="2788920"/>
            <a:ext cx="1911095" cy="160020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0615" y="3017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F80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615" y="3502152"/>
            <a:ext cx="15453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AFF"/>
                </a:solidFill>
                <a:latin typeface="Aptos"/>
              </a:defRPr>
            </a:pPr>
            <a:r>
              <a:t>Deployment and Maintenance: Releasing to production and providing ongoing updates.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37392" y="640080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EB3C9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700000">
            <a:off x="10881360" y="502920"/>
            <a:ext cx="640080" cy="640080"/>
          </a:xfrm>
          <a:prstGeom prst="roundRect">
            <a:avLst/>
          </a:prstGeom>
          <a:solidFill>
            <a:srgbClr val="2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292840" y="6080760"/>
            <a:ext cx="320040" cy="32004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438912"/>
            <a:ext cx="1417320" cy="384048"/>
          </a:xfrm>
          <a:prstGeom prst="roundRect">
            <a:avLst/>
          </a:prstGeom>
          <a:solidFill>
            <a:srgbClr val="2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493776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ptos"/>
              </a:defRPr>
            </a:pPr>
            <a:r>
              <a:t>AI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9EB3C9"/>
                </a:solidFill>
                <a:latin typeface="Aptos"/>
              </a:defRPr>
            </a:pPr>
            <a:r>
              <a:t>VISUAL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7FAFF"/>
                </a:solidFill>
                <a:latin typeface="Aptos"/>
              </a:defRPr>
            </a:pPr>
            <a:r>
              <a:t>Modern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68880"/>
            <a:ext cx="4800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7FAFF"/>
                </a:solidFill>
                <a:latin typeface="Aptos"/>
              </a:defRPr>
            </a:pPr>
            <a:r>
              <a:t>•  Decomposition of monolithic applications into independent services.</a:t>
            </a:r>
          </a:p>
          <a:p>
            <a:pPr>
              <a:spcAft>
                <a:spcPts val="1400"/>
              </a:spcAft>
              <a:defRPr sz="2000">
                <a:solidFill>
                  <a:srgbClr val="F7FAFF"/>
                </a:solidFill>
                <a:latin typeface="Aptos"/>
              </a:defRPr>
            </a:pPr>
            <a:r>
              <a:t>•  Improved fault isolation and independent deployment cycles.</a:t>
            </a:r>
          </a:p>
          <a:p>
            <a:pPr>
              <a:spcAft>
                <a:spcPts val="1400"/>
              </a:spcAft>
              <a:defRPr sz="2000">
                <a:solidFill>
                  <a:srgbClr val="F7FAFF"/>
                </a:solidFill>
                <a:latin typeface="Aptos"/>
              </a:defRPr>
            </a:pPr>
            <a:r>
              <a:t>•  Enhanced scalability for high-traffic web applications.</a:t>
            </a:r>
          </a:p>
        </p:txBody>
      </p:sp>
      <p:pic>
        <p:nvPicPr>
          <p:cNvPr id="9" name="Picture 8" descr="tmptt4z1ju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331720"/>
            <a:ext cx="5349240" cy="3429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37392" y="640080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EB3C9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700000">
            <a:off x="10881360" y="502920"/>
            <a:ext cx="640080" cy="640080"/>
          </a:xfrm>
          <a:prstGeom prst="roundRect">
            <a:avLst/>
          </a:prstGeom>
          <a:solidFill>
            <a:srgbClr val="2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292840" y="6080760"/>
            <a:ext cx="320040" cy="32004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438912"/>
            <a:ext cx="1417320" cy="384048"/>
          </a:xfrm>
          <a:prstGeom prst="roundRect">
            <a:avLst/>
          </a:prstGeom>
          <a:solidFill>
            <a:srgbClr val="2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493776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ptos"/>
              </a:defRPr>
            </a:pPr>
            <a:r>
              <a:t>AI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9EB3C9"/>
                </a:solidFill>
                <a:latin typeface="Aptos"/>
              </a:defRPr>
            </a:pPr>
            <a:r>
              <a:t>KEY IDEAS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7FAFF"/>
                </a:solidFill>
                <a:latin typeface="Aptos"/>
              </a:defRPr>
            </a:pPr>
            <a:r>
              <a:t>Quality Assurance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23160"/>
            <a:ext cx="3429000" cy="297180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F80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01568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7FAFF"/>
                </a:solidFill>
                <a:latin typeface="Aptos"/>
              </a:defRPr>
            </a:pPr>
            <a:r>
              <a:t>Unit Testing: Verifying individual components or functions in isolation.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2423160"/>
            <a:ext cx="3429000" cy="297180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69748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F80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3401568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7FAFF"/>
                </a:solidFill>
                <a:latin typeface="Aptos"/>
              </a:defRPr>
            </a:pPr>
            <a:r>
              <a:t>Integration Testing: Ensuring combined modules work together seamlessly.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2423160"/>
            <a:ext cx="3429000" cy="297180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8" y="269748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F80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3401568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7FAFF"/>
                </a:solidFill>
                <a:latin typeface="Aptos"/>
              </a:defRPr>
            </a:pPr>
            <a:r>
              <a:t>Automated CI/CD: Running tests and deploying builds automatically on every commit.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37392" y="640080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EB3C9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700000">
            <a:off x="10881360" y="502920"/>
            <a:ext cx="640080" cy="640080"/>
          </a:xfrm>
          <a:prstGeom prst="roundRect">
            <a:avLst/>
          </a:prstGeom>
          <a:solidFill>
            <a:srgbClr val="2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292840" y="6080760"/>
            <a:ext cx="320040" cy="32004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438912"/>
            <a:ext cx="1417320" cy="384048"/>
          </a:xfrm>
          <a:prstGeom prst="roundRect">
            <a:avLst/>
          </a:prstGeom>
          <a:solidFill>
            <a:srgbClr val="2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493776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ptos"/>
              </a:defRPr>
            </a:pPr>
            <a:r>
              <a:t>AI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9EB3C9"/>
                </a:solidFill>
                <a:latin typeface="Aptos"/>
              </a:defRPr>
            </a:pPr>
            <a:r>
              <a:t>QUOTE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7FAFF"/>
                </a:solidFill>
                <a:latin typeface="Aptos"/>
              </a:defRPr>
            </a:pPr>
            <a:r>
              <a:t>Design Philosophy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000" b="1">
                <a:solidFill>
                  <a:srgbClr val="2F80FF"/>
                </a:solidFill>
                <a:latin typeface="Aptos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06040"/>
            <a:ext cx="90525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7FAFF"/>
                </a:solidFill>
                <a:latin typeface="Aptos"/>
              </a:defRPr>
            </a:pPr>
            <a:r>
              <a:t>Programs must be written for people to read, and only incidentally for machines to execute.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40080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EB3C9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700000">
            <a:off x="10881360" y="502920"/>
            <a:ext cx="640080" cy="640080"/>
          </a:xfrm>
          <a:prstGeom prst="roundRect">
            <a:avLst/>
          </a:prstGeom>
          <a:solidFill>
            <a:srgbClr val="2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292840" y="6080760"/>
            <a:ext cx="320040" cy="32004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438912"/>
            <a:ext cx="1417320" cy="384048"/>
          </a:xfrm>
          <a:prstGeom prst="roundRect">
            <a:avLst/>
          </a:prstGeom>
          <a:solidFill>
            <a:srgbClr val="2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493776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ptos"/>
              </a:defRPr>
            </a:pPr>
            <a:r>
              <a:t>AI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9EB3C9"/>
                </a:solidFill>
                <a:latin typeface="Aptos"/>
              </a:defRPr>
            </a:pPr>
            <a: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7FAFF"/>
                </a:solidFill>
                <a:latin typeface="Aptos"/>
              </a:defRPr>
            </a:pPr>
            <a:r>
              <a:t>The Cost of Maintenance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68880"/>
            <a:ext cx="102412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400" b="1">
                <a:solidFill>
                  <a:srgbClr val="2F80FF"/>
                </a:solidFill>
                <a:latin typeface="Aptos"/>
              </a:defRPr>
            </a:pPr>
            <a:r>
              <a:t>60-80%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069080"/>
            <a:ext cx="8046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F7FAFF"/>
                </a:solidFill>
                <a:latin typeface="Aptos"/>
              </a:defRPr>
            </a:pPr>
            <a:r>
              <a:t>Of total software costs typically spent on maintenance and updates rather than initial development.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40080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EB3C9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700000">
            <a:off x="10881360" y="502920"/>
            <a:ext cx="640080" cy="640080"/>
          </a:xfrm>
          <a:prstGeom prst="roundRect">
            <a:avLst/>
          </a:prstGeom>
          <a:solidFill>
            <a:srgbClr val="2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292840" y="6080760"/>
            <a:ext cx="320040" cy="320040"/>
          </a:xfrm>
          <a:prstGeom prst="round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F80FF"/>
                </a:solidFill>
                <a:latin typeface="Aptos"/>
              </a:defRPr>
            </a:pPr>
            <a: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600" b="1">
                <a:solidFill>
                  <a:srgbClr val="F7FAFF"/>
                </a:solidFill>
                <a:latin typeface="Aptos"/>
              </a:defRPr>
            </a:pPr>
            <a:r>
              <a:t>The Future of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4290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0">
                <a:solidFill>
                  <a:srgbClr val="9EB3C9"/>
                </a:solidFill>
                <a:latin typeface="Aptos"/>
              </a:defRPr>
            </a:pPr>
            <a:r>
              <a:t>Looking ahead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5029200"/>
            <a:ext cx="3200400" cy="73152"/>
          </a:xfrm>
          <a:prstGeom prst="rect">
            <a:avLst/>
          </a:prstGeom>
          <a:solidFill>
            <a:srgbClr val="2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37392" y="640080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EB3C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